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PDHBC Debugging Agent — Proposed Internal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brought inside HSBC perimeter — zero data egress, full governance compliance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18320" y="201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 |  Internal Use Only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731520" cy="256032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74552" cy="4069080"/>
          </a:xfrm>
          <a:prstGeom prst="rect">
            <a:avLst/>
          </a:prstGeom>
          <a:solidFill>
            <a:srgbClr val="F0F6FB"/>
          </a:solidFill>
          <a:ln w="25400">
            <a:solidFill>
              <a:srgbClr val="2E5C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377440" cy="3200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INTERNAL NETWORK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98280" y="1508760"/>
            <a:ext cx="2514600" cy="365760"/>
          </a:xfrm>
          <a:prstGeom prst="roundRect">
            <a:avLst>
              <a:gd name="adj" fmla="val 12500"/>
            </a:avLst>
          </a:prstGeom>
          <a:solidFill>
            <a:srgbClr val="E1F0E8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508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EXTERNAL DATA EGRESS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057400"/>
            <a:ext cx="51206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2194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(Citrix)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pastes Finance query → orchestrates the agent → runs PySpark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057400"/>
            <a:ext cx="5120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7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E1F0E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 (On-Premise)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Mistral hosted inside HSBC infra — no external API calls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291840"/>
            <a:ext cx="2468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429000"/>
            <a:ext cx="411480" cy="411480"/>
          </a:xfrm>
          <a:prstGeom prst="ellipse">
            <a:avLst/>
          </a:prstGeom>
          <a:solidFill>
            <a:srgbClr val="DCE8F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6118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ERD + Logic 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382219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embeddings)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29000" y="3291840"/>
            <a:ext cx="2468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3429000"/>
            <a:ext cx="411480" cy="411480"/>
          </a:xfrm>
          <a:prstGeom prst="ellipse">
            <a:avLst/>
          </a:prstGeom>
          <a:solidFill>
            <a:srgbClr val="DCE8F4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3383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/ Hive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0" y="36118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tables + 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23360" y="382219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(PII, CRR, customer IDs)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291840"/>
            <a:ext cx="51206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D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429000"/>
            <a:ext cx="411480" cy="411480"/>
          </a:xfrm>
          <a:prstGeom prst="ellipse">
            <a:avLst/>
          </a:prstGeom>
          <a:solidFill>
            <a:srgbClr val="DCE8F4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03720" y="3383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GPU / CPU Compute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03720" y="36118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runs entirely on internal hardware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3822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(Performance depends on RAM / VRAM allocated)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97880" y="2331720"/>
            <a:ext cx="365760" cy="201168"/>
          </a:xfrm>
          <a:prstGeom prst="rightArrow">
            <a:avLst/>
          </a:prstGeom>
          <a:solidFill>
            <a:srgbClr val="1F7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7880" y="2606040"/>
            <a:ext cx="365760" cy="201168"/>
          </a:xfrm>
          <a:prstGeom prst="leftArrow">
            <a:avLst/>
          </a:prstGeom>
          <a:solidFill>
            <a:srgbClr val="2E5C8A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434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data, all compute, all responses stay inside HSBC perimeter at all times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325880" y="3072384"/>
            <a:ext cx="201168" cy="274320"/>
          </a:xfrm>
          <a:prstGeom prst="downArrow">
            <a:avLst/>
          </a:prstGeom>
          <a:solidFill>
            <a:srgbClr val="1F2D5C"/>
          </a:solidFill>
          <a:ln/>
        </p:spPr>
      </p:sp>
      <p:sp>
        <p:nvSpPr>
          <p:cNvPr id="44" name="Shape 42"/>
          <p:cNvSpPr/>
          <p:nvPr/>
        </p:nvSpPr>
        <p:spPr>
          <a:xfrm>
            <a:off x="4526280" y="3072384"/>
            <a:ext cx="201168" cy="274320"/>
          </a:xfrm>
          <a:prstGeom prst="downArrow">
            <a:avLst/>
          </a:prstGeom>
          <a:solidFill>
            <a:srgbClr val="1F2D5C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5623560"/>
            <a:ext cx="5532120" cy="1097280"/>
          </a:xfrm>
          <a:prstGeom prst="rect">
            <a:avLst/>
          </a:prstGeom>
          <a:solidFill>
            <a:srgbClr val="E1F0E8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5852160"/>
            <a:ext cx="640080" cy="64008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852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1417320" y="57150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WIN — Least Friction Possible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417320" y="59893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crosses HSBC perimeter.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calls, no data residency review, no third-party processor approval. The LLM is downloaded, deployed inside, and its limbs cut from the outside world.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9632" y="5623560"/>
            <a:ext cx="5532120" cy="1097280"/>
          </a:xfrm>
          <a:prstGeom prst="rect">
            <a:avLst/>
          </a:prstGeom>
          <a:solidFill>
            <a:srgbClr val="FFF4DC"/>
          </a:solidFill>
          <a:ln w="19050">
            <a:solidFill>
              <a:srgbClr val="C777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82512" y="5852160"/>
            <a:ext cx="640080" cy="64008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52" name="Text 50"/>
          <p:cNvSpPr/>
          <p:nvPr/>
        </p:nvSpPr>
        <p:spPr>
          <a:xfrm>
            <a:off x="6382512" y="5852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7159752" y="5715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— Slower Response Times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159752" y="59893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on internal hardware.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that take </a:t>
            </a:r>
            <a:pPr indent="0" marL="0">
              <a:buNone/>
            </a:pPr>
            <a:r>
              <a:rPr lang="en-US" sz="10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seconds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cloud LLMs may take </a:t>
            </a:r>
            <a:pPr indent="0" marL="0">
              <a:buNone/>
            </a:pPr>
            <a:r>
              <a:rPr lang="en-US" sz="105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seconds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internally. Performance depends on allocated RAM/VRAM and concurrent load.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2026-04-28T02:07:59Z</dcterms:created>
  <dcterms:modified xsi:type="dcterms:W3CDTF">2026-04-28T02:07:59Z</dcterms:modified>
</cp:coreProperties>
</file>