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54864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PDHBC Debugging Agent — Current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3891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LLM lives, how data flows, and the governance concern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0" y="228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 |  Internal Use Only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5943600" cy="4206240"/>
          </a:xfrm>
          <a:prstGeom prst="rect">
            <a:avLst/>
          </a:prstGeom>
          <a:solidFill>
            <a:srgbClr val="DBEAFE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274320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INTERNAL NETWORK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53949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(Citrix)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21031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pastes Finance query → orchestrates the agent → runs PySpark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2788920"/>
            <a:ext cx="26060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2608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280160" y="3108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+ ERD + Logic docs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280160" y="3337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(Vector embeddings)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429000" y="2788920"/>
            <a:ext cx="26060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9260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06908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/ Hive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069080" y="3108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source tables + output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069080" y="3337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(PII, CRR, customer IDs)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0080" y="3886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queries data → context assembled with RAG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337560" y="2651760"/>
            <a:ext cx="0" cy="13716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6446520" y="1280160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46520" y="1444752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46520" y="1609344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446520" y="1773936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46520" y="1938528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446520" y="2103120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446520" y="2267712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446520" y="2432304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446520" y="2596896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446520" y="2761488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446520" y="2926080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446520" y="3090672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446520" y="3255264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446520" y="3419856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446520" y="3584448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446520" y="3749040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446520" y="3913632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446520" y="4078224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446520" y="4242816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446520" y="4407408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446520" y="4572000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446520" y="4736592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6446520" y="4901184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6446520" y="5065776"/>
            <a:ext cx="457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989320" y="914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 FIREWALL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6766560" y="1143000"/>
            <a:ext cx="5029200" cy="4206240"/>
          </a:xfrm>
          <a:prstGeom prst="rect">
            <a:avLst/>
          </a:prstGeom>
          <a:solidFill>
            <a:srgbClr val="F8FAFC"/>
          </a:solidFill>
          <a:ln w="25400">
            <a:solidFill>
              <a:srgbClr val="94A3B8"/>
            </a:solidFill>
            <a:prstDash val="dash"/>
          </a:ln>
        </p:spPr>
      </p:sp>
      <p:sp>
        <p:nvSpPr>
          <p:cNvPr id="52" name="Shape 47"/>
          <p:cNvSpPr/>
          <p:nvPr/>
        </p:nvSpPr>
        <p:spPr>
          <a:xfrm>
            <a:off x="6766560" y="1143000"/>
            <a:ext cx="2743200" cy="3657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76656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PUBLIC INTERNET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7680960" y="2194560"/>
            <a:ext cx="3200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2377440"/>
            <a:ext cx="548640" cy="548640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7772400" y="3017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LLM API</a:t>
            </a:r>
            <a:endParaRPr lang="en-US" sz="1600" dirty="0"/>
          </a:p>
        </p:txBody>
      </p:sp>
      <p:sp>
        <p:nvSpPr>
          <p:cNvPr id="57" name="Text 51"/>
          <p:cNvSpPr/>
          <p:nvPr/>
        </p:nvSpPr>
        <p:spPr>
          <a:xfrm>
            <a:off x="777240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Cloud</a:t>
            </a:r>
            <a:endParaRPr lang="en-US" sz="1200" dirty="0"/>
          </a:p>
        </p:txBody>
      </p:sp>
      <p:sp>
        <p:nvSpPr>
          <p:cNvPr id="58" name="Text 52"/>
          <p:cNvSpPr/>
          <p:nvPr/>
        </p:nvSpPr>
        <p:spPr>
          <a:xfrm>
            <a:off x="7772400" y="3611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api.anthropic.com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8229600" y="3886200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8229600" y="3886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Hosted outside HSBC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0" y="0"/>
            <a:ext cx="0" cy="0"/>
          </a:xfrm>
          <a:prstGeom prst="rtTriangle">
            <a:avLst/>
          </a:prstGeom>
          <a:solidFill>
            <a:srgbClr val="DC2626"/>
          </a:solidFill>
          <a:ln/>
        </p:spPr>
      </p:sp>
      <p:sp>
        <p:nvSpPr>
          <p:cNvPr id="62" name="Shape 56"/>
          <p:cNvSpPr/>
          <p:nvPr/>
        </p:nvSpPr>
        <p:spPr>
          <a:xfrm>
            <a:off x="6080760" y="2148840"/>
            <a:ext cx="1554480" cy="0"/>
          </a:xfrm>
          <a:prstGeom prst="line">
            <a:avLst/>
          </a:prstGeom>
          <a:noFill/>
          <a:ln w="635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63" name="Shape 57"/>
          <p:cNvSpPr/>
          <p:nvPr/>
        </p:nvSpPr>
        <p:spPr>
          <a:xfrm>
            <a:off x="5989320" y="1691640"/>
            <a:ext cx="1691640" cy="384048"/>
          </a:xfrm>
          <a:prstGeom prst="roundRect">
            <a:avLst>
              <a:gd name="adj" fmla="val 1190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5989320" y="1691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Query + Data</a:t>
            </a:r>
            <a:endParaRPr lang="en-US" sz="1100" dirty="0"/>
          </a:p>
        </p:txBody>
      </p:sp>
      <p:sp>
        <p:nvSpPr>
          <p:cNvPr id="65" name="Shape 59"/>
          <p:cNvSpPr/>
          <p:nvPr/>
        </p:nvSpPr>
        <p:spPr>
          <a:xfrm>
            <a:off x="6080760" y="4572000"/>
            <a:ext cx="1554480" cy="0"/>
          </a:xfrm>
          <a:prstGeom prst="line">
            <a:avLst/>
          </a:prstGeom>
          <a:noFill/>
          <a:ln w="50800">
            <a:solidFill>
              <a:srgbClr val="1E40AF"/>
            </a:solidFill>
            <a:prstDash val="solid"/>
            <a:headEnd type="triangle"/>
          </a:ln>
        </p:spPr>
      </p:sp>
      <p:sp>
        <p:nvSpPr>
          <p:cNvPr id="66" name="Shape 60"/>
          <p:cNvSpPr/>
          <p:nvPr/>
        </p:nvSpPr>
        <p:spPr>
          <a:xfrm>
            <a:off x="5989320" y="4709160"/>
            <a:ext cx="1691640" cy="365760"/>
          </a:xfrm>
          <a:prstGeom prst="roundRect">
            <a:avLst>
              <a:gd name="adj" fmla="val 12500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5989320" y="4709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</a:t>
            </a:r>
            <a:endParaRPr lang="en-US" sz="1100" dirty="0"/>
          </a:p>
        </p:txBody>
      </p:sp>
      <p:sp>
        <p:nvSpPr>
          <p:cNvPr id="68" name="Shape 62"/>
          <p:cNvSpPr/>
          <p:nvPr/>
        </p:nvSpPr>
        <p:spPr>
          <a:xfrm>
            <a:off x="365760" y="5577840"/>
            <a:ext cx="11430000" cy="109728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365760" y="5577840"/>
            <a:ext cx="137160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7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760720"/>
            <a:ext cx="640080" cy="640080"/>
          </a:xfrm>
          <a:prstGeom prst="rect">
            <a:avLst/>
          </a:prstGeom>
        </p:spPr>
      </p:pic>
      <p:sp>
        <p:nvSpPr>
          <p:cNvPr id="71" name="Text 64"/>
          <p:cNvSpPr/>
          <p:nvPr/>
        </p:nvSpPr>
        <p:spPr>
          <a:xfrm>
            <a:off x="1463040" y="5669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CONCERN — Data Leaving HSBC Perimeter</a:t>
            </a:r>
            <a:endParaRPr lang="en-US" sz="1600" dirty="0"/>
          </a:p>
        </p:txBody>
      </p:sp>
      <p:sp>
        <p:nvSpPr>
          <p:cNvPr id="72" name="Text 65"/>
          <p:cNvSpPr/>
          <p:nvPr/>
        </p:nvSpPr>
        <p:spPr>
          <a:xfrm>
            <a:off x="1463040" y="60350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sends </a:t>
            </a:r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query + retrieved BRD/ERD context + customer-level data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HSBC to Anthropic's external cloud.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anonymisation, this raises </a:t>
            </a:r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residency, regulatory &amp; internal governance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that block production deployment.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PDHBC Architecture &amp; Governance Concern</dc:title>
  <dc:subject>PptxGenJS Presentation</dc:subject>
  <dc:creator>PptxGenJS</dc:creator>
  <cp:lastModifiedBy>PptxGenJS</cp:lastModifiedBy>
  <cp:revision>1</cp:revision>
  <dcterms:created xsi:type="dcterms:W3CDTF">2026-04-28T01:54:43Z</dcterms:created>
  <dcterms:modified xsi:type="dcterms:W3CDTF">2026-04-28T01:54:43Z</dcterms:modified>
</cp:coreProperties>
</file>